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6F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220">
                <a:solidFill>
                  <a:srgbClr val="D6F24A"/>
                </a:solidFill>
                <a:latin typeface="Avenir Next Medium"/>
                <a:ea typeface="Avenir Next Medium"/>
                <a:cs typeface="Avenir Next Medium"/>
              </a:rPr>
              <a:t>KENDOPS  ·  TRAINING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54480"/>
            <a:ext cx="10972800" cy="2834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6000" b="0" i="0">
                <a:solidFill>
                  <a:srgbClr val="F6F4EE"/>
                </a:solidFill>
                <a:latin typeface="Iowan Old Style"/>
                <a:ea typeface="Iowan Old Style"/>
                <a:cs typeface="Iowan Old Style"/>
              </a:rPr>
              <a:t>DevOps, cloud,</a:t>
            </a:r>
          </a:p>
          <a:p>
            <a:pPr algn="l">
              <a:lnSpc>
                <a:spcPct val="92000"/>
              </a:lnSpc>
            </a:pPr>
            <a:r>
              <a:rPr sz="6000" b="0" i="0">
                <a:solidFill>
                  <a:srgbClr val="F6F4EE"/>
                </a:solidFill>
                <a:latin typeface="Iowan Old Style"/>
                <a:ea typeface="Iowan Old Style"/>
                <a:cs typeface="Iowan Old Style"/>
              </a:rPr>
              <a:t>and AI automation.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77639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1">
                <a:solidFill>
                  <a:srgbClr val="D6F24A"/>
                </a:solidFill>
                <a:latin typeface="Iowan Old Style"/>
                <a:ea typeface="Iowan Old Style"/>
                <a:cs typeface="Iowan Old Style"/>
              </a:rPr>
              <a:t>Forty-five minutes. One delivery path.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8064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 spc="120">
                <a:solidFill>
                  <a:srgbClr val="C4C8BE"/>
                </a:solidFill>
                <a:latin typeface="Avenir Next Medium"/>
                <a:ea typeface="Avenir Next Medium"/>
                <a:cs typeface="Avenir Next Medium"/>
              </a:rPr>
              <a:t>BUILD     DEPLOY     OBSERVE     AUTOMATE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580644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200" b="0" i="0" spc="80">
                <a:solidFill>
                  <a:srgbClr val="C4C8BE"/>
                </a:solidFill>
                <a:latin typeface="Avenir Next Medium"/>
                <a:ea typeface="Avenir Next Medium"/>
                <a:cs typeface="Avenir Next Medium"/>
              </a:rPr>
              <a:t>CERTIFICATION AND CONSULTING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C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220">
                <a:solidFill>
                  <a:srgbClr val="1C3A28"/>
                </a:solidFill>
                <a:latin typeface="Avenir Next Medium"/>
                <a:ea typeface="Avenir Next Medium"/>
                <a:cs typeface="Avenir Next Medium"/>
              </a:rPr>
              <a:t>KENDOPS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400" b="0" i="0">
                <a:solidFill>
                  <a:srgbClr val="6A6E66"/>
                </a:solidFill>
                <a:latin typeface="Iowan Old Style"/>
                <a:ea typeface="Iowan Old Style"/>
                <a:cs typeface="Iowan Old Style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097280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36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Leave with a workflow,</a:t>
            </a:r>
          </a:p>
          <a:p>
            <a:pPr algn="l">
              <a:lnSpc>
                <a:spcPct val="98000"/>
              </a:lnSpc>
            </a:pPr>
            <a:r>
              <a:rPr sz="36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not a list of tools.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4708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47088"/>
            <a:ext cx="1024128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0" i="0">
                <a:solidFill>
                  <a:srgbClr val="141614"/>
                </a:solidFill>
                <a:latin typeface="Avenir Next"/>
                <a:ea typeface="Avenir Next"/>
                <a:cs typeface="Avenir Next"/>
              </a:rPr>
              <a:t>See the DevOps loop as shared ownership, not a job title.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8600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286000"/>
            <a:ext cx="1024128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0" i="0">
                <a:solidFill>
                  <a:srgbClr val="141614"/>
                </a:solidFill>
                <a:latin typeface="Avenir Next"/>
                <a:ea typeface="Avenir Next"/>
                <a:cs typeface="Avenir Next"/>
              </a:rPr>
              <a:t>Place cloud and Terraform on that loop.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724912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724912"/>
            <a:ext cx="1024128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0" i="0">
                <a:solidFill>
                  <a:srgbClr val="141614"/>
                </a:solidFill>
                <a:latin typeface="Avenir Next"/>
                <a:ea typeface="Avenir Next"/>
                <a:cs typeface="Avenir Next"/>
              </a:rPr>
              <a:t>Watch a change earn the right to ship: build, test, scan, deploy.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16382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163824"/>
            <a:ext cx="1024128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0" i="0">
                <a:solidFill>
                  <a:srgbClr val="141614"/>
                </a:solidFill>
                <a:latin typeface="Avenir Next"/>
                <a:ea typeface="Avenir Next"/>
                <a:cs typeface="Avenir Next"/>
              </a:rPr>
              <a:t>Read the running system: metrics, logs, traces, and an alert with an owner.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60273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602736"/>
            <a:ext cx="1024128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0" i="0">
                <a:solidFill>
                  <a:srgbClr val="141614"/>
                </a:solidFill>
                <a:latin typeface="Avenir Next"/>
                <a:ea typeface="Avenir Next"/>
                <a:cs typeface="Avenir Next"/>
              </a:rPr>
              <a:t>Use AI where it saves time, and keep a person on the risk.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224528"/>
            <a:ext cx="11064240" cy="15875"/>
          </a:xfrm>
          <a:prstGeom prst="rect">
            <a:avLst/>
          </a:prstGeom>
          <a:solidFill>
            <a:srgbClr val="E2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407408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681728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41614"/>
                </a:solidFill>
                <a:latin typeface="Avenir Next Demi Bold"/>
                <a:ea typeface="Avenir Next Demi Bold"/>
                <a:cs typeface="Avenir Next Demi Bold"/>
              </a:rPr>
              <a:t>Foundations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01091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6A6E66"/>
                </a:solidFill>
                <a:latin typeface="Avenir Next"/>
                <a:ea typeface="Avenir Next"/>
                <a:cs typeface="Avenir Next"/>
              </a:rPr>
              <a:t>7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41448" y="4407408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41448" y="4681728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41614"/>
                </a:solidFill>
                <a:latin typeface="Avenir Next Demi Bold"/>
                <a:ea typeface="Avenir Next Demi Bold"/>
                <a:cs typeface="Avenir Next Demi Bold"/>
              </a:rPr>
              <a:t>Cloud + IaC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41448" y="501091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6A6E66"/>
                </a:solidFill>
                <a:latin typeface="Avenir Next"/>
                <a:ea typeface="Avenir Next"/>
                <a:cs typeface="Avenir Next"/>
              </a:rPr>
              <a:t>8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5968" y="4407408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5968" y="4681728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41614"/>
                </a:solidFill>
                <a:latin typeface="Avenir Next Demi Bold"/>
                <a:ea typeface="Avenir Next Demi Bold"/>
                <a:cs typeface="Avenir Next Demi Bold"/>
              </a:rPr>
              <a:t>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501091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6A6E66"/>
                </a:solidFill>
                <a:latin typeface="Avenir Next"/>
                <a:ea typeface="Avenir Next"/>
                <a:cs typeface="Avenir Next"/>
              </a:rPr>
              <a:t>8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0488" y="4407408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4681728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41614"/>
                </a:solidFill>
                <a:latin typeface="Avenir Next Demi Bold"/>
                <a:ea typeface="Avenir Next Demi Bold"/>
                <a:cs typeface="Avenir Next Demi Bold"/>
              </a:rPr>
              <a:t>Observe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501091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6A6E66"/>
                </a:solidFill>
                <a:latin typeface="Avenir Next"/>
                <a:ea typeface="Avenir Next"/>
                <a:cs typeface="Avenir Next"/>
              </a:rPr>
              <a:t>8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5007" y="4407408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5007" y="4681728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41614"/>
                </a:solidFill>
                <a:latin typeface="Avenir Next Demi Bold"/>
                <a:ea typeface="Avenir Next Demi Bold"/>
                <a:cs typeface="Avenir Next Demi Bold"/>
              </a:rPr>
              <a:t>AI assist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7" y="501091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6A6E66"/>
                </a:solidFill>
                <a:latin typeface="Avenir Next"/>
                <a:ea typeface="Avenir Next"/>
                <a:cs typeface="Avenir Next"/>
              </a:rPr>
              <a:t>8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9528" y="4407408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39528" y="4681728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41614"/>
                </a:solidFill>
                <a:latin typeface="Avenir Next Demi Bold"/>
                <a:ea typeface="Avenir Next Demi Bold"/>
                <a:cs typeface="Avenir Next Demi Bold"/>
              </a:rPr>
              <a:t>Live trace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39528" y="501091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6A6E66"/>
                </a:solidFill>
                <a:latin typeface="Avenir Next"/>
                <a:ea typeface="Avenir Next"/>
                <a:cs typeface="Avenir Next"/>
              </a:rPr>
              <a:t>6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C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220">
                <a:solidFill>
                  <a:srgbClr val="1C3A28"/>
                </a:solidFill>
                <a:latin typeface="Avenir Next Medium"/>
                <a:ea typeface="Avenir Next Medium"/>
                <a:cs typeface="Avenir Next Medium"/>
              </a:rPr>
              <a:t>KENDOPS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400" b="0" i="0">
                <a:solidFill>
                  <a:srgbClr val="6A6E66"/>
                </a:solidFill>
                <a:latin typeface="Iowan Old Style"/>
                <a:ea typeface="Iowan Old Style"/>
                <a:cs typeface="Iowan Old Style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858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6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Four roles. One delivery.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91640"/>
            <a:ext cx="384048" cy="31750"/>
          </a:xfrm>
          <a:prstGeom prst="rect">
            <a:avLst/>
          </a:prstGeom>
          <a:solidFill>
            <a:srgbClr val="1C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4884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DevOps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69748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3A3D38"/>
                </a:solidFill>
                <a:latin typeface="Avenir Next"/>
                <a:ea typeface="Avenir Next"/>
                <a:cs typeface="Avenir Next"/>
              </a:rPr>
              <a:t>Builds the path from commit to release, and shortens the wait.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7648" y="1691640"/>
            <a:ext cx="384048" cy="31750"/>
          </a:xfrm>
          <a:prstGeom prst="rect">
            <a:avLst/>
          </a:prstGeom>
          <a:solidFill>
            <a:srgbClr val="1C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1828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214884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Cloud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69748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3A3D38"/>
                </a:solidFill>
                <a:latin typeface="Avenir Next"/>
                <a:ea typeface="Avenir Next"/>
                <a:cs typeface="Avenir Next"/>
              </a:rPr>
              <a:t>Designs infrastructure that can be locked down, scaled, and paid for.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749039"/>
            <a:ext cx="384048" cy="31750"/>
          </a:xfrm>
          <a:prstGeom prst="rect">
            <a:avLst/>
          </a:prstGeom>
          <a:solidFill>
            <a:srgbClr val="1C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8862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20624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Platform engineer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754879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3A3D38"/>
                </a:solidFill>
                <a:latin typeface="Avenir Next"/>
                <a:ea typeface="Avenir Next"/>
                <a:cs typeface="Avenir Next"/>
              </a:rPr>
              <a:t>Turns that path into something the next team can use without a tour.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7648" y="3749039"/>
            <a:ext cx="384048" cy="31750"/>
          </a:xfrm>
          <a:prstGeom prst="rect">
            <a:avLst/>
          </a:prstGeom>
          <a:solidFill>
            <a:srgbClr val="1C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38862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420624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AI automation engineer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4754879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3A3D38"/>
                </a:solidFill>
                <a:latin typeface="Avenir Next"/>
                <a:ea typeface="Avenir Next"/>
                <a:cs typeface="Avenir Next"/>
              </a:rPr>
              <a:t>Removes the repeatable work, and leaves the judgment in place.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1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Growth shows up as projects other people can run, not as a longer list of tools.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6F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220">
                <a:solidFill>
                  <a:srgbClr val="D6F24A"/>
                </a:solidFill>
                <a:latin typeface="Avenir Next Medium"/>
                <a:ea typeface="Avenir Next Medium"/>
                <a:cs typeface="Avenir Next Medium"/>
              </a:rPr>
              <a:t>KENDOPS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32918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400" b="0" i="0">
                <a:solidFill>
                  <a:srgbClr val="C4C8BE"/>
                </a:solidFill>
                <a:latin typeface="Iowan Old Style"/>
                <a:ea typeface="Iowan Old Style"/>
                <a:cs typeface="Iowan Old Style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5400" b="0" i="0">
                <a:solidFill>
                  <a:srgbClr val="F6F4EE"/>
                </a:solidFill>
                <a:latin typeface="Iowan Old Style"/>
                <a:ea typeface="Iowan Old Style"/>
                <a:cs typeface="Iowan Old Style"/>
              </a:rPr>
              <a:t>One workflow.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06324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D6F24A"/>
                </a:solidFill>
                <a:latin typeface="Iowan Old Style"/>
                <a:ea typeface="Iowan Old Style"/>
                <a:cs typeface="Iowan Old Style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3832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F6F4EE"/>
                </a:solidFill>
                <a:latin typeface="Iowan Old Style"/>
                <a:ea typeface="Iowan Old Style"/>
                <a:cs typeface="Iowan Old Style"/>
              </a:rPr>
              <a:t>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7208" y="306324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D6F24A"/>
                </a:solidFill>
                <a:latin typeface="Iowan Old Style"/>
                <a:ea typeface="Iowan Old Style"/>
                <a:cs typeface="Iowan Old Style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07208" y="33832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F6F4EE"/>
                </a:solidFill>
                <a:latin typeface="Iowan Old Style"/>
                <a:ea typeface="Iowan Old Style"/>
                <a:cs typeface="Iowan Old Style"/>
              </a:rPr>
              <a:t>DevOps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7488" y="306324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D6F24A"/>
                </a:solidFill>
                <a:latin typeface="Iowan Old Style"/>
                <a:ea typeface="Iowan Old Style"/>
                <a:cs typeface="Iowan Old Style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7488" y="33832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F6F4EE"/>
                </a:solidFill>
                <a:latin typeface="Iowan Old Style"/>
                <a:ea typeface="Iowan Old Style"/>
                <a:cs typeface="Iowan Old Style"/>
              </a:rPr>
              <a:t>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87768" y="306324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D6F24A"/>
                </a:solidFill>
                <a:latin typeface="Iowan Old Style"/>
                <a:ea typeface="Iowan Old Style"/>
                <a:cs typeface="Iowan Old Style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87768" y="33832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F6F4EE"/>
                </a:solidFill>
                <a:latin typeface="Iowan Old Style"/>
                <a:ea typeface="Iowan Old Style"/>
                <a:cs typeface="Iowan Old Style"/>
              </a:rPr>
              <a:t>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8048" y="306324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D6F24A"/>
                </a:solidFill>
                <a:latin typeface="Iowan Old Style"/>
                <a:ea typeface="Iowan Old Style"/>
                <a:cs typeface="Iowan Old Style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8048" y="33832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F6F4EE"/>
                </a:solidFill>
                <a:latin typeface="Iowan Old Style"/>
                <a:ea typeface="Iowan Old Style"/>
                <a:cs typeface="Iowan Old Style"/>
              </a:rPr>
              <a:t>Observe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7091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C4C8BE"/>
                </a:solidFill>
                <a:latin typeface="Avenir Next"/>
                <a:ea typeface="Avenir Next"/>
                <a:cs typeface="Avenir Next"/>
              </a:rPr>
              <a:t>DevOps is how the team works. Cloud is where the system runs.
Security decides what may ship. AI drafts the repeatable part.
Observability tells you whether it stayed healthy.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C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220">
                <a:solidFill>
                  <a:srgbClr val="1C3A28"/>
                </a:solidFill>
                <a:latin typeface="Avenir Next Medium"/>
                <a:ea typeface="Avenir Next Medium"/>
                <a:cs typeface="Avenir Next Medium"/>
              </a:rPr>
              <a:t>KENDOPS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400" b="0" i="0">
                <a:solidFill>
                  <a:srgbClr val="6A6E66"/>
                </a:solidFill>
                <a:latin typeface="Iowan Old Style"/>
                <a:ea typeface="Iowan Old Style"/>
                <a:cs typeface="Iowan Old Style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85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Shorten the loop.</a:t>
            </a:r>
          </a:p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Do not skip the check.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60604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862072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24612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3A3D38"/>
                </a:solidFill>
                <a:latin typeface="Avenir Next"/>
                <a:ea typeface="Avenir Next"/>
                <a:cs typeface="Avenir Next"/>
              </a:rPr>
              <a:t>Choose the smallest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47288" y="260604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7288" y="2862072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7288" y="324612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3A3D38"/>
                </a:solidFill>
                <a:latin typeface="Avenir Next"/>
                <a:ea typeface="Avenir Next"/>
                <a:cs typeface="Avenir Next"/>
              </a:rPr>
              <a:t>Put it in Git.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260604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862072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324612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3A3D38"/>
                </a:solidFill>
                <a:latin typeface="Avenir Next"/>
                <a:ea typeface="Avenir Next"/>
                <a:cs typeface="Avenir Next"/>
              </a:rPr>
              <a:t>Make it reproducible.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08007" y="260604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08007" y="2862072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8007" y="324612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3A3D38"/>
                </a:solidFill>
                <a:latin typeface="Avenir Next"/>
                <a:ea typeface="Avenir Next"/>
                <a:cs typeface="Avenir Next"/>
              </a:rPr>
              <a:t>Prove the behavior.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02336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279392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Release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66344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3A3D38"/>
                </a:solidFill>
                <a:latin typeface="Avenir Next"/>
                <a:ea typeface="Avenir Next"/>
                <a:cs typeface="Avenir Next"/>
              </a:rPr>
              <a:t>Approve what passed.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7288" y="402336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7288" y="4279392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Deploy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7288" y="466344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3A3D38"/>
                </a:solidFill>
                <a:latin typeface="Avenir Next"/>
                <a:ea typeface="Avenir Next"/>
                <a:cs typeface="Avenir Next"/>
              </a:rPr>
              <a:t>Ship a known version.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402336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4279392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Operate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466344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3A3D38"/>
                </a:solidFill>
                <a:latin typeface="Avenir Next"/>
                <a:ea typeface="Avenir Next"/>
                <a:cs typeface="Avenir Next"/>
              </a:rPr>
              <a:t>Run it on purpose.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8007" y="402336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8007" y="4279392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Observe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08007" y="466344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3A3D38"/>
                </a:solidFill>
                <a:latin typeface="Avenir Next"/>
                <a:ea typeface="Avenir Next"/>
                <a:cs typeface="Avenir Next"/>
              </a:rPr>
              <a:t>Metrics, logs, traces. Then plan again.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C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220">
                <a:solidFill>
                  <a:srgbClr val="1C3A28"/>
                </a:solidFill>
                <a:latin typeface="Avenir Next Medium"/>
                <a:ea typeface="Avenir Next Medium"/>
                <a:cs typeface="Avenir Next Medium"/>
              </a:rPr>
              <a:t>KENDOPS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400" b="0" i="0">
                <a:solidFill>
                  <a:srgbClr val="6A6E66"/>
                </a:solidFill>
                <a:latin typeface="Iowan Old Style"/>
                <a:ea typeface="Iowan Old Style"/>
                <a:cs typeface="Iowan Old Style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The instruments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11064240" cy="15875"/>
          </a:xfrm>
          <a:prstGeom prst="rect">
            <a:avLst/>
          </a:prstGeom>
          <a:solidFill>
            <a:srgbClr val="1C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630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499616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3A3D38"/>
                </a:solidFill>
                <a:latin typeface="Avenir Next"/>
                <a:ea typeface="Avenir Next"/>
                <a:cs typeface="Avenir Next"/>
              </a:rPr>
              <a:t>AWS, Azure, Google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499616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141614"/>
                </a:solidFill>
                <a:latin typeface="Avenir Next"/>
                <a:ea typeface="Avenir Next"/>
                <a:cs typeface="Avenir Next"/>
              </a:rPr>
              <a:t>Compute, storage, network, identity.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21284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24942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3A3D38"/>
                </a:solidFill>
                <a:latin typeface="Avenir Next"/>
                <a:ea typeface="Avenir Next"/>
                <a:cs typeface="Avenir Next"/>
              </a:rPr>
              <a:t>Terraform, OpenTofu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249424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141614"/>
                </a:solidFill>
                <a:latin typeface="Avenir Next"/>
                <a:ea typeface="Avenir Next"/>
                <a:cs typeface="Avenir Next"/>
              </a:rPr>
              <a:t>Reviewed changes, not clicked ones.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96265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99923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3A3D38"/>
                </a:solidFill>
                <a:latin typeface="Avenir Next"/>
                <a:ea typeface="Avenir Next"/>
                <a:cs typeface="Avenir Next"/>
              </a:rPr>
              <a:t>GitHub Actions, GitLab CI, Jenkins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999232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141614"/>
                </a:solidFill>
                <a:latin typeface="Avenir Next"/>
                <a:ea typeface="Avenir Next"/>
                <a:cs typeface="Avenir Next"/>
              </a:rPr>
              <a:t>Build, test, release, deploy.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71246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Containers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74904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3A3D38"/>
                </a:solidFill>
                <a:latin typeface="Avenir Next"/>
                <a:ea typeface="Avenir Next"/>
                <a:cs typeface="Avenir Next"/>
              </a:rPr>
              <a:t>Docker, Kubernetes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749040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141614"/>
                </a:solidFill>
                <a:latin typeface="Avenir Next"/>
                <a:ea typeface="Avenir Next"/>
                <a:cs typeface="Avenir Next"/>
              </a:rPr>
              <a:t>The same application, anywhere it runs.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46227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4498848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3A3D38"/>
                </a:solidFill>
                <a:latin typeface="Avenir Next"/>
                <a:ea typeface="Avenir Next"/>
                <a:cs typeface="Avenir Next"/>
              </a:rPr>
              <a:t>Model APIs, workflow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4498848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141614"/>
                </a:solidFill>
                <a:latin typeface="Avenir Next"/>
                <a:ea typeface="Avenir Next"/>
                <a:cs typeface="Avenir Next"/>
              </a:rPr>
              <a:t>Summaries, drafts, classification.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212079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Observe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5248655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3A3D38"/>
                </a:solidFill>
                <a:latin typeface="Avenir Next"/>
                <a:ea typeface="Avenir Next"/>
                <a:cs typeface="Avenir Next"/>
              </a:rPr>
              <a:t>Prometheus, Grafana, Alertmanager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5248655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141614"/>
                </a:solidFill>
                <a:latin typeface="Avenir Next"/>
                <a:ea typeface="Avenir Next"/>
                <a:cs typeface="Avenir Next"/>
              </a:rPr>
              <a:t>Metrics, logs, traces. A page with an owner.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C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220">
                <a:solidFill>
                  <a:srgbClr val="1C3A28"/>
                </a:solidFill>
                <a:latin typeface="Avenir Next Medium"/>
                <a:ea typeface="Avenir Next Medium"/>
                <a:cs typeface="Avenir Next Medium"/>
              </a:rPr>
              <a:t>KENDOPS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400" b="0" i="0">
                <a:solidFill>
                  <a:srgbClr val="6A6E66"/>
                </a:solidFill>
                <a:latin typeface="Iowan Old Style"/>
                <a:ea typeface="Iowan Old Style"/>
                <a:cs typeface="Iowan Old Style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6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Cloud, written down.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180">
                <a:solidFill>
                  <a:srgbClr val="1C3A28"/>
                </a:solidFill>
                <a:latin typeface="Avenir Next Medium"/>
                <a:ea typeface="Avenir Next Medium"/>
                <a:cs typeface="Avenir Next Medium"/>
              </a:rPr>
              <a:t>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173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160">
                <a:solidFill>
                  <a:srgbClr val="1C3A28"/>
                </a:solidFill>
                <a:latin typeface="Avenir Next Medium"/>
                <a:ea typeface="Avenir Next Medium"/>
                <a:cs typeface="Avenir Next Medium"/>
              </a:rPr>
              <a:t>INFRASTRUCTURE AS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74519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45720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41614"/>
                </a:solidFill>
                <a:latin typeface="Avenir Next"/>
                <a:ea typeface="Avenir Next"/>
                <a:cs typeface="Avenir Next"/>
              </a:rPr>
              <a:t>Capacity you can add, and remove, when demand moves.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834639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834639"/>
            <a:ext cx="45720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41614"/>
                </a:solidFill>
                <a:latin typeface="Avenir Next"/>
                <a:ea typeface="Avenir Next"/>
                <a:cs typeface="Avenir Next"/>
              </a:rPr>
              <a:t>Identity, network rules, backups, and a budget.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7947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94760"/>
            <a:ext cx="45720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41614"/>
                </a:solidFill>
                <a:latin typeface="Avenir Next"/>
                <a:ea typeface="Avenir Next"/>
                <a:cs typeface="Avenir Next"/>
              </a:rPr>
              <a:t>A managed service when running it yourself is not the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874519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874519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41614"/>
                </a:solidFill>
                <a:latin typeface="Avenir Next"/>
                <a:ea typeface="Avenir Next"/>
                <a:cs typeface="Avenir Next"/>
              </a:rPr>
              <a:t>Infrastructure lives in Git, next to the application.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834639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834639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41614"/>
                </a:solidFill>
                <a:latin typeface="Avenir Next"/>
                <a:ea typeface="Avenir Next"/>
                <a:cs typeface="Avenir Next"/>
              </a:rPr>
              <a:t>A plan is reviewed before anyone is allowed to apply.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7947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794760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41614"/>
                </a:solidFill>
                <a:latin typeface="Avenir Next"/>
                <a:ea typeface="Avenir Next"/>
                <a:cs typeface="Avenir Next"/>
              </a:rPr>
              <a:t>State is protected. Secrets never enter the repository.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074920"/>
            <a:ext cx="11064240" cy="15875"/>
          </a:xfrm>
          <a:prstGeom prst="rect">
            <a:avLst/>
          </a:prstGeom>
          <a:solidFill>
            <a:srgbClr val="1C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257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Commit  →  plan  →  review  →  apply  →  verify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C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220">
                <a:solidFill>
                  <a:srgbClr val="1C3A28"/>
                </a:solidFill>
                <a:latin typeface="Avenir Next Medium"/>
                <a:ea typeface="Avenir Next Medium"/>
                <a:cs typeface="Avenir Next Medium"/>
              </a:rPr>
              <a:t>KENDOPS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400" b="0" i="0">
                <a:solidFill>
                  <a:srgbClr val="6A6E66"/>
                </a:solidFill>
                <a:latin typeface="Iowan Old Style"/>
                <a:ea typeface="Iowan Old Style"/>
                <a:cs typeface="Iowan Old Style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858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0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A change earns</a:t>
            </a:r>
          </a:p>
          <a:p>
            <a:pPr algn="l">
              <a:lnSpc>
                <a:spcPct val="95000"/>
              </a:lnSpc>
            </a:pPr>
            <a:r>
              <a:rPr sz="40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the right to ship.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880360"/>
            <a:ext cx="502920" cy="38100"/>
          </a:xfrm>
          <a:prstGeom prst="rect">
            <a:avLst/>
          </a:prstGeom>
          <a:solidFill>
            <a:srgbClr val="D6F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1089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42900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16052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3A3D38"/>
                </a:solidFill>
                <a:latin typeface="Avenir Next"/>
                <a:ea typeface="Avenir Next"/>
                <a:cs typeface="Avenir Next"/>
              </a:rPr>
              <a:t>The same steps, every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52928" y="2880360"/>
            <a:ext cx="502920" cy="38100"/>
          </a:xfrm>
          <a:prstGeom prst="rect">
            <a:avLst/>
          </a:prstGeom>
          <a:solidFill>
            <a:srgbClr val="D6F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2928" y="31089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2928" y="342900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8" y="416052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3A3D38"/>
                </a:solidFill>
                <a:latin typeface="Avenir Next"/>
                <a:ea typeface="Avenir Next"/>
                <a:cs typeface="Avenir Next"/>
              </a:rPr>
              <a:t>Behavior before opinion.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38928" y="2880360"/>
            <a:ext cx="502920" cy="38100"/>
          </a:xfrm>
          <a:prstGeom prst="rect">
            <a:avLst/>
          </a:prstGeom>
          <a:solidFill>
            <a:srgbClr val="D6F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38928" y="31089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342900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Scan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416052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3A3D38"/>
                </a:solidFill>
                <a:latin typeface="Avenir Next"/>
                <a:ea typeface="Avenir Next"/>
                <a:cs typeface="Avenir Next"/>
              </a:rPr>
              <a:t>Secrets, dependencies, the image.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24927" y="2880360"/>
            <a:ext cx="502920" cy="38100"/>
          </a:xfrm>
          <a:prstGeom prst="rect">
            <a:avLst/>
          </a:prstGeom>
          <a:solidFill>
            <a:srgbClr val="D6F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24927" y="31089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27" y="342900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Deploy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4927" y="416052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3A3D38"/>
                </a:solidFill>
                <a:latin typeface="Avenir Next"/>
                <a:ea typeface="Avenir Next"/>
                <a:cs typeface="Avenir Next"/>
              </a:rPr>
              <a:t>A known version, to a named environment.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10928" y="2880360"/>
            <a:ext cx="502920" cy="38100"/>
          </a:xfrm>
          <a:prstGeom prst="rect">
            <a:avLst/>
          </a:prstGeom>
          <a:solidFill>
            <a:srgbClr val="D6F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0928" y="31089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0928" y="342900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Roll 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0928" y="416052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3A3D38"/>
                </a:solidFill>
                <a:latin typeface="Avenir Next"/>
                <a:ea typeface="Avenir Next"/>
                <a:cs typeface="Avenir Next"/>
              </a:rPr>
              <a:t>The previous good release, on purpose.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623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1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A red scan stops the merge. Waiving it is a decision, written down.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C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220">
                <a:solidFill>
                  <a:srgbClr val="1C3A28"/>
                </a:solidFill>
                <a:latin typeface="Avenir Next Medium"/>
                <a:ea typeface="Avenir Next Medium"/>
                <a:cs typeface="Avenir Next Medium"/>
              </a:rPr>
              <a:t>KENDOPS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400" b="0" i="0">
                <a:solidFill>
                  <a:srgbClr val="6A6E66"/>
                </a:solidFill>
                <a:latin typeface="Iowan Old Style"/>
                <a:ea typeface="Iowan Old Style"/>
                <a:cs typeface="Iowan Old Style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If you shipped it, you can see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47088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3317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120">
                <a:solidFill>
                  <a:srgbClr val="1C3A28"/>
                </a:solidFill>
                <a:latin typeface="Avenir Next Medium"/>
                <a:ea typeface="Avenir Next Medium"/>
                <a:cs typeface="Avenir Next Medium"/>
              </a:rPr>
              <a:t>PROMETHEUS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697480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3A3D38"/>
                </a:solidFill>
                <a:latin typeface="Avenir Next"/>
                <a:ea typeface="Avenir Next"/>
                <a:cs typeface="Avenir Next"/>
              </a:rPr>
              <a:t>Rate, errors, and saturation. A number you can alert 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1688" y="1554480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1847088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Logs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23317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120">
                <a:solidFill>
                  <a:srgbClr val="1C3A28"/>
                </a:solidFill>
                <a:latin typeface="Avenir Next Medium"/>
                <a:ea typeface="Avenir Next Medium"/>
                <a:cs typeface="Avenir Next Medium"/>
              </a:rPr>
              <a:t>ELK OR LOKI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697480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3A3D38"/>
                </a:solidFill>
                <a:latin typeface="Avenir Next"/>
                <a:ea typeface="Avenir Next"/>
                <a:cs typeface="Avenir Next"/>
              </a:rPr>
              <a:t>One request, in order, with enough context to act.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1554480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1847088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Traces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23317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120">
                <a:solidFill>
                  <a:srgbClr val="1C3A28"/>
                </a:solidFill>
                <a:latin typeface="Avenir Next Medium"/>
                <a:ea typeface="Avenir Next Medium"/>
                <a:cs typeface="Avenir Next Medium"/>
              </a:rPr>
              <a:t>OPENTELEMETRY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2697480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3A3D38"/>
                </a:solidFill>
                <a:latin typeface="Avenir Next"/>
                <a:ea typeface="Avenir Next"/>
                <a:cs typeface="Avenir Next"/>
              </a:rPr>
              <a:t>Where the time went, across every service it touched.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886200"/>
            <a:ext cx="11064240" cy="15875"/>
          </a:xfrm>
          <a:prstGeom prst="rect">
            <a:avLst/>
          </a:prstGeom>
          <a:solidFill>
            <a:srgbClr val="1C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41148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Grafana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57200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3A3D38"/>
                </a:solidFill>
                <a:latin typeface="Avenir Next"/>
                <a:ea typeface="Avenir Next"/>
                <a:cs typeface="Avenir Next"/>
              </a:rPr>
              <a:t>The board the team looks at together.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41148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Alertmanager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8" y="457200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3A3D38"/>
                </a:solidFill>
                <a:latin typeface="Avenir Next"/>
                <a:ea typeface="Avenir Next"/>
                <a:cs typeface="Avenir Next"/>
              </a:rPr>
              <a:t>Group, route, and silence. Page one owner.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41148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Runbook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6448" y="457200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3A3D38"/>
                </a:solidFill>
                <a:latin typeface="Avenir Next"/>
                <a:ea typeface="Avenir Next"/>
                <a:cs typeface="Avenir Next"/>
              </a:rPr>
              <a:t>The alert says what to do next.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66928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1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A green deploy is not a healthy service.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C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220">
                <a:solidFill>
                  <a:srgbClr val="1C3A28"/>
                </a:solidFill>
                <a:latin typeface="Avenir Next Medium"/>
                <a:ea typeface="Avenir Next Medium"/>
                <a:cs typeface="Avenir Next Medium"/>
              </a:rPr>
              <a:t>KENDOPS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400" b="0" i="0">
                <a:solidFill>
                  <a:srgbClr val="6A6E66"/>
                </a:solidFill>
                <a:latin typeface="Iowan Old Style"/>
                <a:ea typeface="Iowan Old Style"/>
                <a:cs typeface="Iowan Old Style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6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AI drafts. People decide.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60020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3A3D38"/>
                </a:solidFill>
                <a:latin typeface="Avenir Next"/>
                <a:ea typeface="Avenir Next"/>
                <a:cs typeface="Avenir Next"/>
              </a:rPr>
              <a:t>Explain a failure. Draft a test. Write the note the next person needs.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377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37744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3A3D38"/>
                </a:solidFill>
                <a:latin typeface="Avenir Next"/>
                <a:ea typeface="Avenir Next"/>
                <a:cs typeface="Avenir Next"/>
              </a:rPr>
              <a:t>Group the logs. Name the likely cause. Do not page the room.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15468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15468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3A3D38"/>
                </a:solidFill>
                <a:latin typeface="Avenir Next"/>
                <a:ea typeface="Avenir Next"/>
                <a:cs typeface="Avenir Next"/>
              </a:rPr>
              <a:t>Sort the request. Draft the reply. A person sends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93192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41614"/>
                </a:solidFill>
                <a:latin typeface="Iowan Old Style"/>
                <a:ea typeface="Iowan Old Style"/>
                <a:cs typeface="Iowan Old Style"/>
              </a:rPr>
              <a:t>Release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93192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3A3D38"/>
                </a:solidFill>
                <a:latin typeface="Avenir Next"/>
                <a:ea typeface="Avenir Next"/>
                <a:cs typeface="Avenir Next"/>
              </a:rPr>
              <a:t>Write the notes from the commits that actually shipped.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1600200"/>
            <a:ext cx="19050" cy="3200400"/>
          </a:xfrm>
          <a:prstGeom prst="rect">
            <a:avLst/>
          </a:prstGeom>
          <a:solidFill>
            <a:srgbClr val="1C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15544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160">
                <a:solidFill>
                  <a:srgbClr val="1C3A28"/>
                </a:solidFill>
                <a:latin typeface="Avenir Next Medium"/>
                <a:ea typeface="Avenir Next Medium"/>
                <a:cs typeface="Avenir Next Medium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19659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196596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41614"/>
                </a:solidFill>
                <a:latin typeface="Avenir Next"/>
                <a:ea typeface="Avenir Next"/>
                <a:cs typeface="Avenir Next"/>
              </a:rPr>
              <a:t>Secrets never go into a prompt.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269748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69748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41614"/>
                </a:solidFill>
                <a:latin typeface="Avenir Next"/>
                <a:ea typeface="Avenir Next"/>
                <a:cs typeface="Avenir Next"/>
              </a:rPr>
              <a:t>Production and destructive actions wait for approval.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34290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342900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41614"/>
                </a:solidFill>
                <a:latin typeface="Avenir Next"/>
                <a:ea typeface="Avenir Next"/>
                <a:cs typeface="Avenir Next"/>
              </a:rPr>
              <a:t>Generated code and commands are read before they run.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41605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C3A28"/>
                </a:solidFill>
                <a:latin typeface="Iowan Old Style"/>
                <a:ea typeface="Iowan Old Style"/>
                <a:cs typeface="Iowan Old Style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416052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41614"/>
                </a:solidFill>
                <a:latin typeface="Avenir Next"/>
                <a:ea typeface="Avenir Next"/>
                <a:cs typeface="Avenir Next"/>
              </a:rPr>
              <a:t>Permissions are narrow. Actions are logged. Rollback exists.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6F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220">
                <a:solidFill>
                  <a:srgbClr val="D6F24A"/>
                </a:solidFill>
                <a:latin typeface="Avenir Next Medium"/>
                <a:ea typeface="Avenir Next Medium"/>
                <a:cs typeface="Avenir Next Medium"/>
              </a:rPr>
              <a:t>KENDOPS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32918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400" b="0" i="0">
                <a:solidFill>
                  <a:srgbClr val="C4C8BE"/>
                </a:solidFill>
                <a:latin typeface="Iowan Old Style"/>
                <a:ea typeface="Iowan Old Style"/>
                <a:cs typeface="Iowan Old Style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600" b="0" i="0">
                <a:solidFill>
                  <a:srgbClr val="F6F4EE"/>
                </a:solidFill>
                <a:latin typeface="Iowan Old Style"/>
                <a:ea typeface="Iowan Old Style"/>
                <a:cs typeface="Iowan Old Style"/>
              </a:rPr>
              <a:t>Follow one change.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D6F24A"/>
                </a:solidFill>
                <a:latin typeface="Iowan Old Style"/>
                <a:ea typeface="Iowan Old Style"/>
                <a:cs typeface="Iowan Old Style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659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0" i="0">
                <a:solidFill>
                  <a:srgbClr val="F6F4EE"/>
                </a:solidFill>
                <a:latin typeface="Iowan Old Style"/>
                <a:ea typeface="Iowan Old Style"/>
                <a:cs typeface="Iowan Old Style"/>
              </a:rPr>
              <a:t>Commit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42316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C4C8BE"/>
                </a:solidFill>
                <a:latin typeface="Avenir Next"/>
                <a:ea typeface="Avenir Next"/>
                <a:cs typeface="Avenir Next"/>
              </a:rPr>
              <a:t>A developer pushes to Git.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1688" y="1691640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D6F24A"/>
                </a:solidFill>
                <a:latin typeface="Iowan Old Style"/>
                <a:ea typeface="Iowan Old Style"/>
                <a:cs typeface="Iowan Old Style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1688" y="19659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0" i="0">
                <a:solidFill>
                  <a:srgbClr val="F6F4EE"/>
                </a:solidFill>
                <a:latin typeface="Iowan Old Style"/>
                <a:ea typeface="Iowan Old Style"/>
                <a:cs typeface="Iowan Old Style"/>
              </a:rPr>
              <a:t>Build and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242316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C4C8BE"/>
                </a:solidFill>
                <a:latin typeface="Avenir Next"/>
                <a:ea typeface="Avenir Next"/>
                <a:cs typeface="Avenir Next"/>
              </a:rPr>
              <a:t>The pipeline installs, tests, and scans.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1691640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D6F24A"/>
                </a:solidFill>
                <a:latin typeface="Iowan Old Style"/>
                <a:ea typeface="Iowan Old Style"/>
                <a:cs typeface="Iowan Old Style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19659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0" i="0">
                <a:solidFill>
                  <a:srgbClr val="F6F4EE"/>
                </a:solidFill>
                <a:latin typeface="Iowan Old Style"/>
                <a:ea typeface="Iowan Old Style"/>
                <a:cs typeface="Iowan Old Style"/>
              </a:rPr>
              <a:t>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242316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C4C8BE"/>
                </a:solidFill>
                <a:latin typeface="Avenir Next"/>
                <a:ea typeface="Avenir Next"/>
                <a:cs typeface="Avenir Next"/>
              </a:rPr>
              <a:t>Infrastructure changes are previewed.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246120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D6F24A"/>
                </a:solidFill>
                <a:latin typeface="Iowan Old Style"/>
                <a:ea typeface="Iowan Old Style"/>
                <a:cs typeface="Iowan Old Style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520439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0" i="0">
                <a:solidFill>
                  <a:srgbClr val="F6F4EE"/>
                </a:solidFill>
                <a:latin typeface="Iowan Old Style"/>
                <a:ea typeface="Iowan Old Style"/>
                <a:cs typeface="Iowan Old Style"/>
              </a:rPr>
              <a:t>Deploy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977639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C4C8BE"/>
                </a:solidFill>
                <a:latin typeface="Avenir Next"/>
                <a:ea typeface="Avenir Next"/>
                <a:cs typeface="Avenir Next"/>
              </a:rPr>
              <a:t>An approved release reaches test.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3246120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D6F24A"/>
                </a:solidFill>
                <a:latin typeface="Iowan Old Style"/>
                <a:ea typeface="Iowan Old Style"/>
                <a:cs typeface="Iowan Old Style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3520439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0" i="0">
                <a:solidFill>
                  <a:srgbClr val="F6F4EE"/>
                </a:solidFill>
                <a:latin typeface="Iowan Old Style"/>
                <a:ea typeface="Iowan Old Style"/>
                <a:cs typeface="Iowan Old Style"/>
              </a:rPr>
              <a:t>Observe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3977639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C4C8BE"/>
                </a:solidFill>
                <a:latin typeface="Avenir Next"/>
                <a:ea typeface="Avenir Next"/>
                <a:cs typeface="Avenir Next"/>
              </a:rPr>
              <a:t>Metrics, logs, and traces. The page names an owner.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3246120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D6F24A"/>
                </a:solidFill>
                <a:latin typeface="Iowan Old Style"/>
                <a:ea typeface="Iowan Old Style"/>
                <a:cs typeface="Iowan Old Style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6448" y="3520439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0" i="0">
                <a:solidFill>
                  <a:srgbClr val="F6F4EE"/>
                </a:solidFill>
                <a:latin typeface="Iowan Old Style"/>
                <a:ea typeface="Iowan Old Style"/>
                <a:cs typeface="Iowan Old Style"/>
              </a:rPr>
              <a:t>Assist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3977639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C4C8BE"/>
                </a:solidFill>
                <a:latin typeface="Avenir Next"/>
                <a:ea typeface="Avenir Next"/>
                <a:cs typeface="Avenir Next"/>
              </a:rPr>
              <a:t>AI drafts the summary. An engineer signs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212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D6F24A"/>
                </a:solidFill>
                <a:latin typeface="Iowan Old Style"/>
                <a:ea typeface="Iowan Old Style"/>
                <a:cs typeface="Iowan Old Style"/>
              </a:rPr>
              <a:t>Version the work. Automate the checks.</a:t>
            </a:r>
          </a:p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D6F24A"/>
                </a:solidFill>
                <a:latin typeface="Iowan Old Style"/>
                <a:ea typeface="Iowan Old Style"/>
                <a:cs typeface="Iowan Old Style"/>
              </a:rPr>
              <a:t>Keep a human on the risk.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KenDops - DevOps, cloud, and AI automation</dc:title>
  <dc:subject>45-minute training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Training</cp:category>
</cp:coreProperties>
</file>