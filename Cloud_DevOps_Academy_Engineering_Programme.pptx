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37744"/>
            <a:ext cx="11603736" cy="6382512"/>
          </a:xfrm>
          <a:prstGeom prst="rect">
            <a:avLst/>
          </a:prstGeom>
          <a:noFill/>
          <a:ln w="9525">
            <a:solidFill>
              <a:srgbClr val="D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80">
                <a:solidFill>
                  <a:srgbClr val="E4CB96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438912" cy="12700"/>
          </a:xfrm>
          <a:prstGeom prst="rect">
            <a:avLst/>
          </a:prstGeom>
          <a:solidFill>
            <a:srgbClr val="E4C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9601200" cy="1965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F3EEE6"/>
                </a:solidFill>
                <a:latin typeface="Iowan Old Style"/>
                <a:ea typeface="Iowan Old Style"/>
                <a:cs typeface="Iowan Old Style"/>
              </a:rPr>
              <a:t>Cloud &amp; DevOps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F3EEE6"/>
                </a:solidFill>
                <a:latin typeface="Iowan Old Style"/>
                <a:ea typeface="Iowan Old Style"/>
                <a:cs typeface="Iowan Old Style"/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4CB96"/>
                </a:solidFill>
                <a:latin typeface="Iowan Old Style"/>
                <a:ea typeface="Iowan Old Style"/>
                <a:cs typeface="Iowan Old Style"/>
              </a:rPr>
              <a:t>The Engineering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7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5D0C6"/>
                </a:solidFill>
                <a:latin typeface="Avenir Next"/>
                <a:ea typeface="Avenir Next"/>
                <a:cs typeface="Avenir Next"/>
              </a:rPr>
              <a:t>A sixteen-week professional syllabus. Infrastructure, delivery, and operations,
taught as one system and proved in a capstone.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749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80">
                <a:solidFill>
                  <a:srgbClr val="E4CB96"/>
                </a:solidFill>
                <a:latin typeface="Avenir Next Medium"/>
                <a:ea typeface="Avenir Next Medium"/>
                <a:cs typeface="Avenir Next Medium"/>
              </a:rPr>
              <a:t>THE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4009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3EEE6"/>
                </a:solidFill>
                <a:latin typeface="Avenir Next"/>
                <a:ea typeface="Avenir Next"/>
                <a:cs typeface="Avenir Next"/>
              </a:rPr>
              <a:t>Linux   ·   Git   ·   GitLab CI     AWS   ·   Terraform   ·   Ansible   ·   Docker
Kubernetes   ·   Argo CD     Prometheus   ·   Alertmanager   ·   Grafana   ·   ELK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053328"/>
            <a:ext cx="10881360" cy="9525"/>
          </a:xfrm>
          <a:prstGeom prst="rect">
            <a:avLst/>
          </a:prstGeom>
          <a:solidFill>
            <a:srgbClr val="8A7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12648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C9C2B6"/>
                </a:solidFill>
                <a:latin typeface="Avenir Next Medium"/>
                <a:ea typeface="Avenir Next Medium"/>
                <a:cs typeface="Avenir Next Medium"/>
              </a:rPr>
              <a:t>2026 SYLLABUS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612648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C9C2B6"/>
                </a:solidFill>
                <a:latin typeface="Avenir Next Medium"/>
                <a:ea typeface="Avenir Next Medium"/>
                <a:cs typeface="Avenir Next Medium"/>
              </a:rPr>
              <a:t>PRACTICAL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12648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C9C2B6"/>
                </a:solidFill>
                <a:latin typeface="Avenir Next Medium"/>
                <a:ea typeface="Avenir Next Medium"/>
                <a:cs typeface="Avenir Next Medium"/>
              </a:rPr>
              <a:t>CAPSTONE ASSESSED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THE ENGINEERING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Graduates leave with a platform they can defend: infrastructure in code, a delivery pipeline,
a Kubernetes release path, and the signals required to operate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11183112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49424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066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Weeks, one continuous 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2267712"/>
            <a:ext cx="12700" cy="77724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2249424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7066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Instructor-led sessions each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2267712"/>
            <a:ext cx="12700" cy="77724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249424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066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Labs, projects, and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7112" y="2267712"/>
            <a:ext cx="12700" cy="77724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2249424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7066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Capstone, demonstrated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82112"/>
            <a:ext cx="11183112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8328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WHO IT IS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0332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Beginners with sound computer skills, IT students, developers, and engineers moving into cloud and DevOps.
Basic Linux is useful. A short orientation is provided before Week 1. No prior cloud account is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Tools are taught in the order a system is built. The machine and the repository come first. Then the cloud
account, the container, the pipeline, the cluster, and the signals that show whether it is healthy.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SYLLABUS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THE ENGINEERING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What a graduate can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Administer Linux and troubleshoot networking, access, and services.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Collaborate in Git and GitLab, and ship work through merge requests.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51176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24328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24328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Build, run, and harden Docker images and Compose applications.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18104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9125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91256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Provision AWS with least privilege and express it in Terraform.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417320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4904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1490472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Configure systems with Ansible and keep those runs idempotent.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1984248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057400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057400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Design GitLab CI pipelines that test, scan, publish, and roll 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551176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624328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624328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Deploy on Kubernetes and release with GitOps through Argo CD.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118104"/>
            <a:ext cx="539496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19125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3191256"/>
            <a:ext cx="489204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Monitor with Prometheus, Alertmanager, and Grafana, and investigate with ELK.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THE ENGINEERING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Sixteen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83112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4767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Linux, the network, Git, and a first AWS account used with care.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46504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Linux and the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52704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746504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Networking and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52704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746504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Git and GitLab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2704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746504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AWS fundamentals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32888"/>
            <a:ext cx="11183112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8892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Provision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Containers, a resilient AWS design, Terraform, and Ansible.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7340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5351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7340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5351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AWS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7340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95351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Terraform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340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95351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Ansible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39896"/>
            <a:ext cx="11183112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1304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995928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61688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GitLab CI, Kubernetes, Helm, and security inside the pipeline.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941063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1605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GitLab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941063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1605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Kubernetes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941063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1605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Cluster operations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941063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16052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DevSecOps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46904"/>
            <a:ext cx="11183112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005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6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20293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68696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Avenir Next"/>
                <a:ea typeface="Avenir Next"/>
                <a:cs typeface="Avenir Next"/>
              </a:rPr>
              <a:t>Prometheus, Alertmanager, Grafana, ELK, Argo CD, and the capstone.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148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536752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Metrics and alerts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5148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36752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Logging with ELK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148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36752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Argo CD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148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36752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Capstone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SIXTEEN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01 ·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WEEKS 01 –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Foundations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Linux and the 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Filesystem, users, permissions, systemd, logs, and Bash — pipes, grep, find, awk, sed, and scripts.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server baseline with least privilege, and a scripted health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Networking and SSH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Addressing, DNS, firewalls, TLS, SSH keys, and the tools used to find a broken service.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Key-based access between two Linux hosts, and a troubleshooting runbook.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Git and GitLab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Branches, merges, conflicts, merge requests, protected branches, and tagged releases.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team project with reviews, and release notes for a small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AWS fundamentals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IAM, MFA, EC2, EBS, S3, VPC, security groups, budgets, tagging, and CloudTrail.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locked-down EC2 web server and an S3 site, with security and cost notes.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02 · PROVISION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WEEKS 05 –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Provision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Images, multi-stage builds, Compose, volumes, networks, health checks, and image scanning.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An application and database in Compose, with an optimized multi-stage image.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AWS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Auto Scaling, load balancing, Lambda, CloudWatch, private subnets, and secrets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highly available sample behind a load balancer, and a Lambda with an alarm.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Terraform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Workflow, state, modules, workspaces, drift, tagging, secrets, and safe teardown.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VPC, compute, and storage in modules, applied for two environments, then destroyed.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Ansible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Playbooks, roles, templates, Vault, and idempotent configuration after Terraform.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An Nginx role, then a Terraform-built host configured with a clean second run.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PROVISION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03 ·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WEEKS 09 –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GitLab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Stages, runners, rules, image publish, environments, release strategies, and rollback.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pipeline that tests and pushes on merge, then a deploy and a demonstrated rollback.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Pods, Deployments, Services, ConfigMaps, probes, requests, and a local kind or Minikube cluster.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multi-replica application, then a broken rollout diagnosed from events and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Cluster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Ingress, persistent storage, autoscaling, Helm, security contexts, and RBAC.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Helm chart, plus a stateful workload running as a restricted service account.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DevSecOps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Secret, dependency, image, and Terraform checks inside the GitLab pipeline.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Findings fixed, and an image that runs as non-root with versions pinned.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MONTH 04 ·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WEEKS 13 –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778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Prometheus and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PromQL, Grafana dashboards, and Alertmanager routing, grouping, inhibition, and silences.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dashboard and tested routes for CPU, disk, and downtime.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164592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Logging with ELK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29967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Structured logs, Elasticsearch, Kibana, and ingestion with Filebeat, Logstash, or Elastic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39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Kibana dashboard and a written investigation that names the cause.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Argo 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Desired state, sync, health, drift, environment promotion, and rollback from Git.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 release deployed from Git, drift corrected, then promoted and rolled 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13632"/>
            <a:ext cx="5394960" cy="15875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05072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400507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Capstone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2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Architecture, reliability, security, cost, an incident exercise, and the handover.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93792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The full platform, submitted with its runbook and demonstrated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WEEK 16 · FINAL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The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A production-style application — task manager, inventory service, student portal, or API — automated, secured, observed, and demonstrated. The standard is a system another engineer could operate from the runbook.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GitLab, with a branching model and merge requests.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98648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900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6440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Terraform on AWS. Least privilege, tags, and a cost note.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22776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1421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95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8853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GitLab CI: validate, test, build, scan, and publish.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46904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383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00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1266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Kubernetes with probes, limits, and RBAC. EKS if budget allows.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874519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965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47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2402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Argo CD from Git, with promotion and rollback.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898648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9900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971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6440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Prometheus, Grafana, and Alertmanager routes that have fired.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922776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1421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9959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28853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ELK, and a Kibana view used for an investigation.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46904"/>
            <a:ext cx="5532120" cy="12700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0383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0200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31266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Diagram, README, findings, runbook, and a live demo.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THE ENGINEERING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Grades follow finished work. A claim without a repository, a diagram, or a demonstration does not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2763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2763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4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WHAT IS JUDGED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1183112" cy="14604"/>
          </a:xfrm>
          <a:prstGeom prst="rect">
            <a:avLst/>
          </a:prstGeom>
          <a:solidFill>
            <a:srgbClr val="CBB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Weekly practical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7510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933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Completion, troubleshooting, and evidence from the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11183112" cy="9525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323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Topic projects and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41401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323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Working deliverables, documentation, and Git hygiene.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98064"/>
            <a:ext cx="11183112" cy="9525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71216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Mid-programme practical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8529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7121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Docker, AWS, Terraform, Ansible, and a CI/CD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36976"/>
            <a:ext cx="11183112" cy="9525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10128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Security and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4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101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Pipeline checks, dashboards, logs, and alerts with a reason.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75887"/>
            <a:ext cx="11183112" cy="9525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49039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C27"/>
                </a:solidFill>
                <a:latin typeface="Avenir Next Demi Bold"/>
                <a:ea typeface="Avenir Next Demi Bold"/>
                <a:cs typeface="Avenir Next Demi Bold"/>
              </a:rPr>
              <a:t>Final capstone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73075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Architecture, automation, security, reliability, cost, and the demo.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14800"/>
            <a:ext cx="11183112" cy="9525"/>
          </a:xfrm>
          <a:prstGeom prst="rect">
            <a:avLst/>
          </a:prstGeom>
          <a:solidFill>
            <a:srgbClr val="E4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THE SHAPE OF A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61772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SESSION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2803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Concepts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389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The idea, a worked demonstration, and the decisions the lab will force.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61772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SESSION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82803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Guided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1389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Instructor-led practice, with checkpoints where things are expected to break.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61772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SESSION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82803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Workshop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1389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Project work, a review of someone else’s change, and a short check.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1772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BETWEEN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82803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Independent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1389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24D"/>
                </a:solidFill>
                <a:latin typeface="Avenir Next"/>
                <a:ea typeface="Avenir Next"/>
                <a:cs typeface="Avenir Next"/>
              </a:rPr>
              <a:t>Two to four hours for practice, documentation, and the portfolio.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22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292608"/>
            <a:ext cx="56509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THE ENGINEERING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2700"/>
          </a:xfrm>
          <a:prstGeom prst="rect">
            <a:avLst/>
          </a:prstGeom>
          <a:solidFill>
            <a:srgbClr val="D9C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Studio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23444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TOOL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7276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16 GB of memory is the recommendation once local Kubernetes begins. 8 GB is the minimum.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414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Linux via a virtual machine, WSL2, or a dedicated machine. GitLab and a container registry are provided.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01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AWS learner accounts use MFA, budget alerts, least privilege, and teardown at the end of every 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788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7880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Kubernetes exercises run on kind or Minikube. EKS is reserved for when the budget allows.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735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Credentials never go into Git. Labs use temporary credentials and an approved secrets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57276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9222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Linux, Bash, SSH, and the usual network tools.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8600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054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Git and GitLab, including issues and merge requests.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9923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18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IAM, VPC, EC2, S3, Lambda, CloudWatch, load balancing, EKS as a concept.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12464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Terraform and Ansible.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2569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6451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Docker, GitLab CI, Kubernetes, Helm, and Argo CD.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13892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3583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C27"/>
                </a:solidFill>
                <a:latin typeface="Avenir Next"/>
                <a:ea typeface="Avenir Next"/>
                <a:cs typeface="Avenir Next"/>
              </a:rPr>
              <a:t>Prometheus, Alertmanager, Grafana, and the ELK stack.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7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647395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8A7350"/>
                </a:solidFill>
                <a:latin typeface="Avenir Next Medium"/>
                <a:ea typeface="Avenir Next Medium"/>
                <a:cs typeface="Avenir Next Medium"/>
              </a:rPr>
              <a:t>STUDIO STANDARD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237744"/>
            <a:ext cx="11603736" cy="6382512"/>
          </a:xfrm>
          <a:prstGeom prst="rect">
            <a:avLst/>
          </a:prstGeom>
          <a:noFill/>
          <a:ln w="9525">
            <a:solidFill>
              <a:srgbClr val="D4B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280">
                <a:solidFill>
                  <a:srgbClr val="E4CB96"/>
                </a:solidFill>
                <a:latin typeface="Avenir Next Medium"/>
                <a:ea typeface="Avenir Next Medium"/>
                <a:cs typeface="Avenir Next Medium"/>
              </a:rPr>
              <a:t>CLOUD &amp; DEVOPS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3EEE6"/>
                </a:solidFill>
                <a:latin typeface="Iowan Old Style"/>
                <a:ea typeface="Iowan Old Style"/>
                <a:cs typeface="Iowan Old Style"/>
              </a:rPr>
              <a:t>One system.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3EEE6"/>
                </a:solidFill>
                <a:latin typeface="Iowan Old Style"/>
                <a:ea typeface="Iowan Old Style"/>
                <a:cs typeface="Iowan Old Style"/>
              </a:rPr>
              <a:t>Sixteen weeks.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5D0C6"/>
                </a:solidFill>
                <a:latin typeface="Avenir Next"/>
                <a:ea typeface="Avenir Next"/>
                <a:cs typeface="Avenir Next"/>
              </a:rPr>
              <a:t>Linux, AWS, Git, Terraform, Docker, GitLab CI, Kubernetes,
Argo CD, and observability — then a platform that proves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23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E4CB96"/>
                </a:solidFill>
                <a:latin typeface="Iowan Old Style"/>
                <a:ea typeface="Iowan Old Style"/>
                <a:cs typeface="Iowan Old Style"/>
              </a:rPr>
              <a:t>The Engineering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&amp; DevOps Academy — The Engineering Programme</dc:title>
  <dc:subject>Sixteen-week professional syllabus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Syllabus</cp:category>
</cp:coreProperties>
</file>